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 id="261" r:id="RelId4"/>
    <p:sldId id="262" r:id="Rel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 Type="http://schemas.openxmlformats.org/officeDocument/2006/relationships/slide" Target="/ppt/slides/slide6.xml" Id="RelId4" /><Relationship Type="http://schemas.openxmlformats.org/officeDocument/2006/relationships/slide" Target="/ppt/slides/slide7.xml" Id="RelId5"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Regional Total Incidents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Crime Rate per 100k by Year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Annual Crime Details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Year Range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Regional Total Incidents: 5-Year Forecast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Regional Adult v.s. Youth Charged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Year Range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Regional Crime Rate per 100k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Total Incidents and Crime Rate per 100k by Year (Ontario)</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clusteredColumnChart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Year Range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Year Range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Crime Rate per 100k – Region vs Year (Heatmap)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Top 10 Regions by Crime Rate per 100k (Selected Year)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5.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Year Range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Corrections Admissions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Court Cases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Incidents Cleared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Courts vs Corrections Workload by Year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Percent of Incidents Cleared by Year (Ontario)</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6.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Rate per 100k by Year for Selected Offence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Year Range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Offence / Violation Type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f4fee99a-44ff-45dd-8f23-953287aac752?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488dd2644fe84973" /><Relationship Type="http://schemas.openxmlformats.org/officeDocument/2006/relationships/slideLayout" Target="/ppt/slideLayouts/slideLayout8.xml" Id="R2e834a6c7adc43f8" /><Relationship Type="http://schemas.openxmlformats.org/officeDocument/2006/relationships/hyperlink" Target="https://app.powerbi.com/groups/me/reports/f4fee99a-44ff-45dd-8f23-953287aac752/?pbi_source=PowerPoint" TargetMode="External" Id="RelId0" /><Relationship Type="http://schemas.openxmlformats.org/officeDocument/2006/relationships/image" Target="/ppt/media/image4.png" Id="imgId147232983"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23d95ac9b4a845a5" /><Relationship Type="http://schemas.openxmlformats.org/officeDocument/2006/relationships/slideLayout" Target="/ppt/slideLayouts/slideLayout8.xml" Id="R31905b1545614909" /><Relationship Type="http://schemas.openxmlformats.org/officeDocument/2006/relationships/hyperlink" Target="https://app.powerbi.com/groups/me/reports/f4fee99a-44ff-45dd-8f23-953287aac752/?pbi_source=PowerPoint" TargetMode="External" Id="RelId1" /><Relationship Type="http://schemas.openxmlformats.org/officeDocument/2006/relationships/image" Target="/ppt/media/image5.png" Id="imgId147232984"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f468f9b3d44c42d9" /><Relationship Type="http://schemas.openxmlformats.org/officeDocument/2006/relationships/slideLayout" Target="/ppt/slideLayouts/slideLayout8.xml" Id="R04989c5a0b9c46c5" /><Relationship Type="http://schemas.openxmlformats.org/officeDocument/2006/relationships/hyperlink" Target="https://app.powerbi.com/groups/me/reports/f4fee99a-44ff-45dd-8f23-953287aac752/?pbi_source=PowerPoint" TargetMode="External" Id="RelId2" /><Relationship Type="http://schemas.openxmlformats.org/officeDocument/2006/relationships/image" Target="/ppt/media/image6.png" Id="imgId147232985"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a319e98b59f74a90" /><Relationship Type="http://schemas.openxmlformats.org/officeDocument/2006/relationships/slideLayout" Target="/ppt/slideLayouts/slideLayout8.xml" Id="Rb5d6b6c61f7b4bda" /><Relationship Type="http://schemas.openxmlformats.org/officeDocument/2006/relationships/hyperlink" Target="https://app.powerbi.com/groups/me/reports/f4fee99a-44ff-45dd-8f23-953287aac752/?pbi_source=PowerPoint" TargetMode="External" Id="RelId3" /><Relationship Type="http://schemas.openxmlformats.org/officeDocument/2006/relationships/image" Target="/ppt/media/image7.png" Id="imgId147364235" /></Relationships>
</file>

<file path=ppt/slides/_rels/slide6.xml.rels>&#65279;<?xml version="1.0" encoding="utf-8"?><Relationships xmlns="http://schemas.openxmlformats.org/package/2006/relationships"><Relationship Type="http://schemas.openxmlformats.org/officeDocument/2006/relationships/notesSlide" Target="/ppt/notesSlides/notesSlide5.xml" Id="R43ddefc084e44605" /><Relationship Type="http://schemas.openxmlformats.org/officeDocument/2006/relationships/slideLayout" Target="/ppt/slideLayouts/slideLayout8.xml" Id="Ree24d1a940d24471" /><Relationship Type="http://schemas.openxmlformats.org/officeDocument/2006/relationships/hyperlink" Target="https://app.powerbi.com/groups/me/reports/f4fee99a-44ff-45dd-8f23-953287aac752/?pbi_source=PowerPoint" TargetMode="External" Id="RelId4" /><Relationship Type="http://schemas.openxmlformats.org/officeDocument/2006/relationships/image" Target="/ppt/media/image8.png" Id="imgId147399977" /></Relationships>
</file>

<file path=ppt/slides/_rels/slide7.xml.rels>&#65279;<?xml version="1.0" encoding="utf-8"?><Relationships xmlns="http://schemas.openxmlformats.org/package/2006/relationships"><Relationship Type="http://schemas.openxmlformats.org/officeDocument/2006/relationships/notesSlide" Target="/ppt/notesSlides/notesSlide6.xml" Id="R303d57c76abf41f0" /><Relationship Type="http://schemas.openxmlformats.org/officeDocument/2006/relationships/slideLayout" Target="/ppt/slideLayouts/slideLayout8.xml" Id="R17d8a7432aab420d" /><Relationship Type="http://schemas.openxmlformats.org/officeDocument/2006/relationships/hyperlink" Target="https://app.powerbi.com/groups/me/reports/f4fee99a-44ff-45dd-8f23-953287aac752/?pbi_source=PowerPoint" TargetMode="External" Id="RelId5" /><Relationship Type="http://schemas.openxmlformats.org/officeDocument/2006/relationships/image" Target="/ppt/media/image9.png" Id="imgId147455222"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OPS Crime Insights</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11/20/2025 2:19:11 PM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11/20/2025 2:11:06 PM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card ,Regional Total Incidents ,Crime Rate per 100k by Year ,Annual Crime Details ,actionButton ,Year Range ,textbox ,shape.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147232983"/>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Dashboard</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Regional Total Incidents: 5-Year Forecast ,Regional Adult v.s. Youth Charged ,Year Range ,Regional Crime Rate per 100k ,shape ,textbox.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147232984"/>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Trends + Forecast</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Total Incidents and Crime Rate per 100k by Year (Ontario) ,tableEx ,clusteredColumnChart ,shape ,textbox ,Year Range.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147232985"/>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Regions &amp; CMA</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Year Range ,textbox ,shape ,Crime Rate per 100k – Region vs Year (Heatmap) ,Top 10 Regions by Crime Rate per 100k (Selected Year).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147364235"/>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Heatmaps &amp; Regions</a:t>
            </a:r>
          </a:p>
        </p:txBody>
      </p:sp>
    </p:spTree>
    <p:clrMapOvr>
      <a:masterClrMapping xmlns:a="http://schemas.openxmlformats.org/drawingml/2006/main"/>
    </p:clrMapOvr>
  </p:cSld>
</p:sld>
</file>

<file path=ppt/slides/slide6.xml><?xml version="1.0" encoding="utf-8"?>
<p:sld xmlns:p="http://schemas.openxmlformats.org/presentationml/2006/main">
  <p:cSld>
    <p:spTree>
      <p:nvGrpSpPr>
        <p:cNvPr id="1" name=""/>
        <p:cNvGrpSpPr/>
        <p:nvPr/>
      </p:nvGrpSpPr>
      <p:grpSpPr/>
      <p:pic>
        <p:nvPicPr>
          <p:cNvPr id="3" name="Picture" title="This slide contains the following visuals: Year Range ,Corrections Admissions ,Total Court Cases ,Incidents Cleared ,shape ,textbox ,Courts vs Corrections Workload by Year ,Percent of Incidents Cleared by Year (Ontario). Please refer to the notes on this slide for details">
            <a:hlinkClick xmlns:r="http://schemas.openxmlformats.org/officeDocument/2006/relationships" xmlns:a="http://schemas.openxmlformats.org/drawingml/2006/main" r:id="RelId4"/>
          </p:cNvPr>
          <p:cNvPicPr>
            <a:picLocks xmlns:a="http://schemas.openxmlformats.org/drawingml/2006/main" noChangeAspect="1"/>
          </p:cNvPicPr>
          <p:nvPr/>
        </p:nvPicPr>
        <p:blipFill>
          <a:blip xmlns:r="http://schemas.openxmlformats.org/officeDocument/2006/relationships" xmlns:a="http://schemas.openxmlformats.org/drawingml/2006/main" r:embed="imgId147399977"/>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Justice System Performance</a:t>
            </a:r>
          </a:p>
        </p:txBody>
      </p:sp>
    </p:spTree>
    <p:clrMapOvr>
      <a:masterClrMapping xmlns:a="http://schemas.openxmlformats.org/drawingml/2006/main"/>
    </p:clrMapOvr>
  </p:cSld>
</p:sld>
</file>

<file path=ppt/slides/slide7.xml><?xml version="1.0" encoding="utf-8"?>
<p:sld xmlns:p="http://schemas.openxmlformats.org/presentationml/2006/main">
  <p:cSld>
    <p:spTree>
      <p:nvGrpSpPr>
        <p:cNvPr id="1" name=""/>
        <p:cNvGrpSpPr/>
        <p:nvPr/>
      </p:nvGrpSpPr>
      <p:grpSpPr/>
      <p:pic>
        <p:nvPicPr>
          <p:cNvPr id="3" name="Picture" title="This slide contains the following visuals: Rate per 100k by Year for Selected Offence ,textbox ,shape ,Year Range ,Offence / Violation Type. Please refer to the notes on this slide for details">
            <a:hlinkClick xmlns:r="http://schemas.openxmlformats.org/officeDocument/2006/relationships" xmlns:a="http://schemas.openxmlformats.org/drawingml/2006/main" r:id="RelId5"/>
          </p:cNvPr>
          <p:cNvPicPr>
            <a:picLocks xmlns:a="http://schemas.openxmlformats.org/drawingml/2006/main" noChangeAspect="1"/>
          </p:cNvPicPr>
          <p:nvPr/>
        </p:nvPicPr>
        <p:blipFill>
          <a:blip xmlns:r="http://schemas.openxmlformats.org/officeDocument/2006/relationships" xmlns:a="http://schemas.openxmlformats.org/drawingml/2006/main" r:embed="imgId147455222"/>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Offence Type Explorer</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